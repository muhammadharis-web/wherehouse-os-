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WAREHOUSE 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2651760"/>
            <a:ext cx="14630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4A3B8"/>
                </a:solidFill>
                <a:latin typeface="Calibri"/>
              </a:defRPr>
            </a:pPr>
            <a:r>
              <a:t>Multi-Agent Order Fulfillment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AI-Powered Warehouse Management with Autonomous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28B"/>
                </a:solidFill>
                <a:latin typeface="Calibri"/>
              </a:defRPr>
            </a:pPr>
            <a:r>
              <a:t>Class Presentation - Final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972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An intelligent warehouse management system powered by AI agents that automates the entire order fulfillment lifecycle — from order placement to delivery tracking.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Real-time order processing &amp; tracking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Multi-agent AI orchestration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Vector database for semantic search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Automated rerouting &amp; delay prediction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SMS/Email notifications (Twilio + SendGrid)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3D warehouse visualization (Three.js)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Smooth animations (Framer Motion + GSAP)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7315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TECH STACK 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371600"/>
            <a:ext cx="10972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0" y="1828800"/>
            <a:ext cx="274320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Backend</a:t>
            </a:r>
            <a:br/>
            <a:r>
              <a:t>—————————</a:t>
            </a:r>
            <a:br/>
            <a:r>
              <a:t>Python 3.12 • FastAPI</a:t>
            </a:r>
            <a:br/>
            <a:r>
              <a:t>SQLAlchemy • Celery</a:t>
            </a:r>
            <a:br/>
            <a:r>
              <a:t>Redis • Qdrant • OpenAI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1828800"/>
            <a:ext cx="274320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  <a:br/>
            <a:r>
              <a:t>—————————</a:t>
            </a:r>
            <a:br/>
            <a:r>
              <a:t>Next.js 16 • React 19</a:t>
            </a:r>
            <a:br/>
            <a:r>
              <a:t>TypeScript • Tailwind CSS v4</a:t>
            </a:r>
            <a:br/>
            <a:r>
              <a:t>Framer Motion • Three.js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3566160"/>
            <a:ext cx="274320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Database</a:t>
            </a:r>
            <a:br/>
            <a:r>
              <a:t>—————————</a:t>
            </a:r>
            <a:br/>
            <a:r>
              <a:t>PostgreSQL 16 (Prod)</a:t>
            </a:r>
            <a:br/>
            <a:r>
              <a:t>SQLite (Dev)</a:t>
            </a:r>
            <a:br/>
            <a:r>
              <a:t>Qdrant Vector DB</a:t>
            </a:r>
            <a:br/>
            <a:r>
              <a:t>Redis Cache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3566160"/>
            <a:ext cx="274320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AI / Agents</a:t>
            </a:r>
            <a:br/>
            <a:r>
              <a:t>—————————</a:t>
            </a:r>
            <a:br/>
            <a:r>
              <a:t>OpenAI GPT-4o</a:t>
            </a:r>
            <a:br/>
            <a:r>
              <a:t>OpenAI Agents SDK</a:t>
            </a:r>
            <a:br/>
            <a:r>
              <a:t>5 Autonomous Agents</a:t>
            </a:r>
            <a:br/>
            <a:r>
              <a:t>Vector Embeddings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5303520"/>
            <a:ext cx="274320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DevOps</a:t>
            </a:r>
            <a:br/>
            <a:r>
              <a:t>—————————</a:t>
            </a:r>
            <a:br/>
            <a:r>
              <a:t>Docker • docker-compose</a:t>
            </a:r>
            <a:br/>
            <a:r>
              <a:t>Git • Ruff • mypy</a:t>
            </a:r>
            <a:br/>
            <a:r>
              <a:t>pytest • Vitest</a:t>
            </a:r>
            <a:br/>
            <a:r>
              <a:t>ESLint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5303520"/>
            <a:ext cx="274320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Notifications</a:t>
            </a:r>
            <a:br/>
            <a:r>
              <a:t>—————————</a:t>
            </a:r>
            <a:br/>
            <a:r>
              <a:t>Twilio (SMS)</a:t>
            </a:r>
            <a:br/>
            <a:r>
              <a:t>SendGrid (Email)</a:t>
            </a:r>
            <a:br/>
            <a:r>
              <a:t>EasyPost (Shipping)</a:t>
            </a:r>
            <a:br/>
            <a:r>
              <a:t>SmartyStreets (Addr)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2560320" cy="1371600"/>
          </a:xfrm>
          <a:prstGeom prst="roundRect">
            <a:avLst/>
          </a:prstGeom>
          <a:solidFill>
            <a:srgbClr val="1E4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  <a:br/>
            <a:r>
              <a:t>Next.js 16 • React 19</a:t>
            </a:r>
            <a:br/>
            <a:r>
              <a:t>Tailwind CSS v4</a:t>
            </a:r>
            <a:br/>
            <a:r>
              <a:t>Port 3000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463040"/>
            <a:ext cx="2560320" cy="1371600"/>
          </a:xfrm>
          <a:prstGeom prst="roundRect">
            <a:avLst/>
          </a:prstGeom>
          <a:solidFill>
            <a:srgbClr val="1E4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Backend API</a:t>
            </a:r>
            <a:br/>
            <a:r>
              <a:t>FastAPI • Uvicorn</a:t>
            </a:r>
            <a:br/>
            <a:r>
              <a:t>REST + WebSocket</a:t>
            </a:r>
            <a:br/>
            <a:r>
              <a:t>Port 8000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2560320" cy="13716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AI Agents</a:t>
            </a:r>
            <a:br/>
            <a:r>
              <a:t>OpenAI Agents SDK</a:t>
            </a:r>
            <a:br/>
            <a:r>
              <a:t>5 Specialized Agents</a:t>
            </a:r>
            <a:br/>
            <a:r>
              <a:t>GPT-4o Powered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463040"/>
            <a:ext cx="2560320" cy="13716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Vector DB</a:t>
            </a:r>
            <a:br/>
            <a:r>
              <a:t>Qdrant</a:t>
            </a:r>
            <a:br/>
            <a:r>
              <a:t>4 Collections</a:t>
            </a:r>
            <a:br/>
            <a:r>
              <a:t>1536-dim Vectors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00400"/>
            <a:ext cx="2560320" cy="1371600"/>
          </a:xfrm>
          <a:prstGeom prst="round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PostgreSQL 16</a:t>
            </a:r>
            <a:br/>
            <a:r>
              <a:t>Relational DB</a:t>
            </a:r>
            <a:br/>
            <a:r>
              <a:t>Orders, Shipments</a:t>
            </a:r>
            <a:br/>
            <a:r>
              <a:t>Fulfillment Centers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3200400"/>
            <a:ext cx="2560320" cy="1371600"/>
          </a:xfrm>
          <a:prstGeom prst="round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Redis 7</a:t>
            </a:r>
            <a:br/>
            <a:r>
              <a:t>Message Broker</a:t>
            </a:r>
            <a:br/>
            <a:r>
              <a:t>Celery Backend</a:t>
            </a:r>
            <a:br/>
            <a:r>
              <a:t>Cache Layer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200400"/>
            <a:ext cx="2560320" cy="1371600"/>
          </a:xfrm>
          <a:prstGeom prst="round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Celery Workers</a:t>
            </a:r>
            <a:br/>
            <a:r>
              <a:t>Async Tasks</a:t>
            </a:r>
            <a:br/>
            <a:r>
              <a:t>Monitor Cycles</a:t>
            </a:r>
            <a:br/>
            <a:r>
              <a:t>Background Jobs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3200400"/>
            <a:ext cx="2560320" cy="1371600"/>
          </a:xfrm>
          <a:prstGeom prst="roundRect">
            <a:avLst/>
          </a:prstGeom>
          <a:solidFill>
            <a:srgbClr val="781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External APIs</a:t>
            </a:r>
            <a:br/>
            <a:r>
              <a:t>Twilio • SendGrid</a:t>
            </a:r>
            <a:br/>
            <a:r>
              <a:t>OpenAI • EasyPost</a:t>
            </a:r>
            <a:br/>
            <a:r>
              <a:t>SmartyStreets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206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Data Flow:  User → Frontend (Next.js) → API (FastAPI) → AI Agents → DB/External Services →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Deployment: Docker Containers (PostgreSQL + Redis + API + Celery Workers + Celery Beat)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AI AGENTS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73152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361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Fulfillment Orchestrator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536192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4E63"/>
                </a:solidFill>
                <a:latin typeface="Calibri"/>
              </a:defRPr>
            </a:pPr>
            <a:r>
              <a:t>Central coordinator that runs the full monitor cycle: checks delays, evaluates reroutes, predicts failures, and optimizes costs across all agents.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67712"/>
            <a:ext cx="73152" cy="5486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4942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Routing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249424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4E63"/>
                </a:solidFill>
                <a:latin typeface="Calibri"/>
              </a:defRPr>
            </a:pPr>
            <a:r>
              <a:t>Selects optimal fulfillment center &amp; carrier rate for new orders based on cost, location, and SLA requirements.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80944"/>
            <a:ext cx="73152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6265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Monitor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962656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4E63"/>
                </a:solidFill>
                <a:latin typeface="Calibri"/>
              </a:defRPr>
            </a:pPr>
            <a:r>
              <a:t>Queries active shipments every N seconds, detects delays and overdue status, and triggers alerts.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94176"/>
            <a:ext cx="73152" cy="548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6758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Rerouting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675888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4E63"/>
                </a:solidFill>
                <a:latin typeface="Calibri"/>
              </a:defRPr>
            </a:pPr>
            <a:r>
              <a:t>Evaluates alternative carriers when delays occur, checks feasibility, and executes automated reroutes.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407408"/>
            <a:ext cx="73152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Communication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38912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4E63"/>
                </a:solidFill>
                <a:latin typeface="Calibri"/>
              </a:defRPr>
            </a:pPr>
            <a:r>
              <a:t>Sends delay alerts via email (SendGrid) and SMS (Twilio) with customer-preferred channels.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120640"/>
            <a:ext cx="73152" cy="5486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1023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Prediction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5102352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4E63"/>
                </a:solidFill>
                <a:latin typeface="Calibri"/>
              </a:defRPr>
            </a:pPr>
            <a:r>
              <a:t>Predicts failure probability for shipments based on delay history, carrier statistics, and risk factors using vector similarity.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833872"/>
            <a:ext cx="73152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81558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Cost Optimizer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5815584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4E63"/>
                </a:solidFill>
                <a:latin typeface="Calibri"/>
              </a:defRPr>
            </a:pPr>
            <a:r>
              <a:t>Analyzes shipping costs per monitor cycle, identifies trends, and generates cost-reduction recommendations.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BUSINESS GUARDRAILS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972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Safety rules enforced during every monitor cycle to ensure business compliance: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29184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🛡  SLA Compliance</a:t>
            </a:r>
            <a:br/>
            <a:r>
              <a:t>Flags shipments exceeding critical SLA hours thresholds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2103120"/>
            <a:ext cx="329184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🛡  Cost Cap</a:t>
            </a:r>
            <a:br/>
            <a:r>
              <a:t>Prevents reroutes exceeding maximum allowed cost increase percentage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103120"/>
            <a:ext cx="329184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🛡  Notification Frequency</a:t>
            </a:r>
            <a:br/>
            <a:r>
              <a:t>Limits notifications per order to avoid spam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329184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🛡  Failed Delivery Threshold</a:t>
            </a:r>
            <a:br/>
            <a:r>
              <a:t>Flags shipments exceeding overdue delivery threshold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4206240"/>
            <a:ext cx="329184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🛡  Carrier Diversity</a:t>
            </a:r>
            <a:br/>
            <a:r>
              <a:t>Prevents switching to same/similar monopoly carriers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4206240"/>
            <a:ext cx="329184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🛡  Address Validation</a:t>
            </a:r>
            <a:br/>
            <a:r>
              <a:t>Validates address format, ZIP code, and street indicators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⚡ All guardrails run asynchronously during each Celery Beat monitor cycle (every 15 minutes)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FRONTEND HIGHLIGHTS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5603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0F172A"/>
                </a:solidFill>
              </a:rPr>
              <a:t>Landing Page</a:t>
            </a:r>
            <a:br/>
            <a:r>
              <a:rPr>
                <a:solidFill>
                  <a:srgbClr val="0F172A"/>
                </a:solidFill>
              </a:rPr>
              <a:t>—————————</a:t>
            </a:r>
            <a:br/>
            <a:r>
              <a:rPr>
                <a:solidFill>
                  <a:srgbClr val="0F172A"/>
                </a:solidFill>
              </a:rPr>
              <a:t>3D Warehouse Scene (Three.js)</a:t>
            </a:r>
            <a:br/>
            <a:r>
              <a:rPr>
                <a:solidFill>
                  <a:srgbClr val="0F172A"/>
                </a:solidFill>
              </a:rPr>
              <a:t>Hero animations (Framer Motion, GSAP)</a:t>
            </a:r>
            <a:br/>
            <a:r>
              <a:rPr>
                <a:solidFill>
                  <a:srgbClr val="0F172A"/>
                </a:solidFill>
              </a:rPr>
              <a:t>Smooth scrolling (Lenis)</a:t>
            </a:r>
            <a:br/>
            <a:r>
              <a:rPr>
                <a:solidFill>
                  <a:srgbClr val="0F172A"/>
                </a:solidFill>
              </a:rPr>
              <a:t>Parallax layers, Tilt cards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463040"/>
            <a:ext cx="25603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0F172A"/>
                </a:solidFill>
              </a:rPr>
              <a:t>Dashboard</a:t>
            </a:r>
            <a:br/>
            <a:r>
              <a:rPr>
                <a:solidFill>
                  <a:srgbClr val="0F172A"/>
                </a:solidFill>
              </a:rPr>
              <a:t>—————————</a:t>
            </a:r>
            <a:br/>
            <a:r>
              <a:rPr>
                <a:solidFill>
                  <a:srgbClr val="0F172A"/>
                </a:solidFill>
              </a:rPr>
              <a:t>Real-time order tracking</a:t>
            </a:r>
            <a:br/>
            <a:r>
              <a:rPr>
                <a:solidFill>
                  <a:srgbClr val="0F172A"/>
                </a:solidFill>
              </a:rPr>
              <a:t>Inventory zones panel</a:t>
            </a:r>
            <a:br/>
            <a:r>
              <a:rPr>
                <a:solidFill>
                  <a:srgbClr val="0F172A"/>
                </a:solidFill>
              </a:rPr>
              <a:t>Analytics &amp; metrics</a:t>
            </a:r>
            <a:br/>
            <a:r>
              <a:rPr>
                <a:solidFill>
                  <a:srgbClr val="0F172A"/>
                </a:solidFill>
              </a:rPr>
              <a:t>Agent activity logs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463040"/>
            <a:ext cx="25603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0F172A"/>
                </a:solidFill>
              </a:rPr>
              <a:t>AI Assistant</a:t>
            </a:r>
            <a:br/>
            <a:r>
              <a:rPr>
                <a:solidFill>
                  <a:srgbClr val="0F172A"/>
                </a:solidFill>
              </a:rPr>
              <a:t>—————————</a:t>
            </a:r>
            <a:br/>
            <a:r>
              <a:rPr>
                <a:solidFill>
                  <a:srgbClr val="0F172A"/>
                </a:solidFill>
              </a:rPr>
              <a:t>Chat interface (OpenAI GPT-4o-mini)</a:t>
            </a:r>
            <a:br/>
            <a:r>
              <a:rPr>
                <a:solidFill>
                  <a:srgbClr val="0F172A"/>
                </a:solidFill>
              </a:rPr>
              <a:t>Streaming responses (Vercel AI SDK)</a:t>
            </a:r>
            <a:br/>
            <a:r>
              <a:rPr>
                <a:solidFill>
                  <a:srgbClr val="0F172A"/>
                </a:solidFill>
              </a:rPr>
              <a:t>Smart suggestions &amp; insights</a:t>
            </a:r>
            <a:br/>
            <a:r>
              <a:rPr>
                <a:solidFill>
                  <a:srgbClr val="0F172A"/>
                </a:solidFill>
              </a:rPr>
              <a:t>Context-aware replies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1463040"/>
            <a:ext cx="25603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0F172A"/>
                </a:solidFill>
              </a:rPr>
              <a:t>UI/UX</a:t>
            </a:r>
            <a:br/>
            <a:r>
              <a:rPr>
                <a:solidFill>
                  <a:srgbClr val="0F172A"/>
                </a:solidFill>
              </a:rPr>
              <a:t>—————————</a:t>
            </a:r>
            <a:br/>
            <a:r>
              <a:rPr>
                <a:solidFill>
                  <a:srgbClr val="0F172A"/>
                </a:solidFill>
              </a:rPr>
              <a:t>Radix UI accessible components</a:t>
            </a:r>
            <a:br/>
            <a:r>
              <a:rPr>
                <a:solidFill>
                  <a:srgbClr val="0F172A"/>
                </a:solidFill>
              </a:rPr>
              <a:t>Tailwind CSS v4 styling</a:t>
            </a:r>
            <a:br/>
            <a:r>
              <a:rPr>
                <a:solidFill>
                  <a:srgbClr val="0F172A"/>
                </a:solidFill>
              </a:rPr>
              <a:t>Framer Motion animations</a:t>
            </a:r>
            <a:br/>
            <a:r>
              <a:rPr>
                <a:solidFill>
                  <a:srgbClr val="0F172A"/>
                </a:solidFill>
              </a:rPr>
              <a:t>GSAP advanced timelines</a:t>
            </a:r>
            <a:br/>
            <a:r>
              <a:rPr>
                <a:solidFill>
                  <a:srgbClr val="0F172A"/>
                </a:solidFill>
              </a:rPr>
              <a:t>Lucide icons • Dark theme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40480"/>
            <a:ext cx="25603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0F172A"/>
                </a:solidFill>
              </a:rPr>
              <a:t>Auth &amp; Forms</a:t>
            </a:r>
            <a:br/>
            <a:r>
              <a:rPr>
                <a:solidFill>
                  <a:srgbClr val="0F172A"/>
                </a:solidFill>
              </a:rPr>
              <a:t>—————————</a:t>
            </a:r>
            <a:br/>
            <a:r>
              <a:rPr>
                <a:solidFill>
                  <a:srgbClr val="0F172A"/>
                </a:solidFill>
              </a:rPr>
              <a:t>NextAuth.js authentication</a:t>
            </a:r>
            <a:br/>
            <a:r>
              <a:rPr>
                <a:solidFill>
                  <a:srgbClr val="0F172A"/>
                </a:solidFill>
              </a:rPr>
              <a:t>Google + Facebook OAuth</a:t>
            </a:r>
            <a:br/>
            <a:r>
              <a:rPr>
                <a:solidFill>
                  <a:srgbClr val="0F172A"/>
                </a:solidFill>
              </a:rPr>
              <a:t>React Hook Form + Zod v4</a:t>
            </a:r>
            <a:br/>
            <a:r>
              <a:rPr>
                <a:solidFill>
                  <a:srgbClr val="0F172A"/>
                </a:solidFill>
              </a:rPr>
              <a:t>JWT session management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3840480"/>
            <a:ext cx="25603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0F172A"/>
                </a:solidFill>
              </a:rPr>
              <a:t>Visual Effects</a:t>
            </a:r>
            <a:br/>
            <a:r>
              <a:rPr>
                <a:solidFill>
                  <a:srgbClr val="0F172A"/>
                </a:solidFill>
              </a:rPr>
              <a:t>—————————</a:t>
            </a:r>
            <a:br/>
            <a:r>
              <a:rPr>
                <a:solidFill>
                  <a:srgbClr val="0F172A"/>
                </a:solidFill>
              </a:rPr>
              <a:t>Noise overlay • Cursor follower</a:t>
            </a:r>
            <a:br/>
            <a:r>
              <a:rPr>
                <a:solidFill>
                  <a:srgbClr val="0F172A"/>
                </a:solidFill>
              </a:rPr>
              <a:t>Magnetic buttons • Rotating borders</a:t>
            </a:r>
            <a:br/>
            <a:r>
              <a:rPr>
                <a:solidFill>
                  <a:srgbClr val="0F172A"/>
                </a:solidFill>
              </a:rPr>
              <a:t>Text reveal animations</a:t>
            </a:r>
            <a:br/>
            <a:r>
              <a:rPr>
                <a:solidFill>
                  <a:srgbClr val="0F172A"/>
                </a:solidFill>
              </a:rPr>
              <a:t>Animated counters • Scroll animations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3840480"/>
            <a:ext cx="25603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0F172A"/>
                </a:solidFill>
              </a:rPr>
              <a:t>Pages</a:t>
            </a:r>
            <a:br/>
            <a:r>
              <a:rPr>
                <a:solidFill>
                  <a:srgbClr val="0F172A"/>
                </a:solidFill>
              </a:rPr>
              <a:t>—————————</a:t>
            </a:r>
            <a:br/>
            <a:r>
              <a:rPr>
                <a:solidFill>
                  <a:srgbClr val="0F172A"/>
                </a:solidFill>
              </a:rPr>
              <a:t>/dashboard • /orders • /agents</a:t>
            </a:r>
            <a:br/>
            <a:r>
              <a:rPr>
                <a:solidFill>
                  <a:srgbClr val="0F172A"/>
                </a:solidFill>
              </a:rPr>
              <a:t>/analytics • /settings</a:t>
            </a:r>
            <a:br/>
            <a:r>
              <a:rPr>
                <a:solidFill>
                  <a:srgbClr val="0F172A"/>
                </a:solidFill>
              </a:rPr>
              <a:t>/workflows • /monitoring</a:t>
            </a:r>
            <a:br/>
            <a:r>
              <a:rPr>
                <a:solidFill>
                  <a:srgbClr val="0F172A"/>
                </a:solidFill>
              </a:rPr>
              <a:t>/team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3840480"/>
            <a:ext cx="25603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0F172A"/>
                </a:solidFill>
              </a:rPr>
              <a:t>Testing</a:t>
            </a:r>
            <a:br/>
            <a:r>
              <a:rPr>
                <a:solidFill>
                  <a:srgbClr val="0F172A"/>
                </a:solidFill>
              </a:rPr>
              <a:t>—————————</a:t>
            </a:r>
            <a:br/>
            <a:r>
              <a:rPr>
                <a:solidFill>
                  <a:srgbClr val="0F172A"/>
                </a:solidFill>
              </a:rPr>
              <a:t>Vitest • React Testing Library</a:t>
            </a:r>
            <a:br/>
            <a:r>
              <a:rPr>
                <a:solidFill>
                  <a:srgbClr val="0F172A"/>
                </a:solidFill>
              </a:rPr>
              <a:t>Jest DOM matchers</a:t>
            </a:r>
            <a:br/>
            <a:r>
              <a:rPr>
                <a:solidFill>
                  <a:srgbClr val="0F172A"/>
                </a:solidFill>
              </a:rPr>
              <a:t>User event simulation</a:t>
            </a:r>
            <a:br/>
            <a:r>
              <a:rPr>
                <a:solidFill>
                  <a:srgbClr val="0F172A"/>
                </a:solidFill>
              </a:rPr>
              <a:t>jsdom environment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alibri"/>
              </a:defRPr>
            </a:pPr>
            <a:r>
              <a:t>▸ Languages &amp; Runtimes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280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Python 3.12, TypeScript 5, Node.js 20+, pnpm 9+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280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alibri"/>
              </a:defRPr>
            </a:pPr>
            <a:r>
              <a:t>▸ Backend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1280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FastAPI, Uvicorn, Pydantic, SQLAlchemy 2.0 (async)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64207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alibri"/>
              </a:defRPr>
            </a:pPr>
            <a:r>
              <a:t>▸ Frontend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664207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Next.js 16 (App Router), React 19, Tailwind CSS v4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664207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alibri"/>
              </a:defRPr>
            </a:pPr>
            <a:r>
              <a:t>▸ Database &amp; Cache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1664207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PostgreSQL 16, SQLite (dev), Redis 7, Qdrant Vector 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48255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alibri"/>
              </a:defRPr>
            </a:pPr>
            <a:r>
              <a:t>▸ AI / 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048255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OpenAI GPT-4o, OpenAI Agents SDK, text-embedding-3-small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048255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alibri"/>
              </a:defRPr>
            </a:pPr>
            <a:r>
              <a:t>▸ Task Queue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048255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Celery, Celery Beat, Redis (broker + backend)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43230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alibri"/>
              </a:defRPr>
            </a:pPr>
            <a:r>
              <a:t>▸ Auth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243230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NextAuth.js, JWT (python-jose), OAuth2, bcrypt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43230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alibri"/>
              </a:defRPr>
            </a:pPr>
            <a:r>
              <a:t>▸ UI Components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43230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Radix UI, lucide-react, class-variance-authority, tailwind-merge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163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alibri"/>
              </a:defRPr>
            </a:pPr>
            <a:r>
              <a:t>▸ Animations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281635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Framer Motion 12, GSAP 3, Three.js, Lenis smooth scroll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8163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alibri"/>
              </a:defRPr>
            </a:pPr>
            <a:r>
              <a:t>▸ Forms &amp;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281635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React Hook Form, Zod v4, @hookform/resolvers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200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alibri"/>
              </a:defRPr>
            </a:pPr>
            <a:r>
              <a:t>▸ Notifications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32004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Twilio (SMS), SendGrid (Email)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200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alibri"/>
              </a:defRPr>
            </a:pPr>
            <a:r>
              <a:t>▸ External APIs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32004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OpenAI, EasyPost (Shipping), SmartyStreets (Address)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5844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alibri"/>
              </a:defRPr>
            </a:pPr>
            <a:r>
              <a:t>▸ DevOps &amp; Tools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358444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Docker, docker-compose, Git, ESLint, Ruff, mypy, pytest, Vitest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5844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alibri"/>
              </a:defRPr>
            </a:pPr>
            <a:r>
              <a:t>▸ Testing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358444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pytest-asyncio, Vitest, React Testing Library, Locust (load test)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DATABASE &amp; VECTOR STORE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Calibri"/>
              </a:defRPr>
            </a:pPr>
            <a:r>
              <a:t>Relational Database (PostgreSQL / SQLite)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2560320" cy="1645920"/>
          </a:xfrm>
          <a:prstGeom prst="roundRect">
            <a:avLst/>
          </a:prstGeom>
          <a:solidFill>
            <a:srgbClr val="1E4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Orders</a:t>
            </a:r>
            <a:br/>
            <a:r>
              <a:t>• Order ID, Customer, Items</a:t>
            </a:r>
            <a:br/>
            <a:r>
              <a:t>• Status, Total, Timeline</a:t>
            </a:r>
            <a:br/>
            <a:r>
              <a:t>• Agent Assignments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2011680"/>
            <a:ext cx="2560320" cy="1645920"/>
          </a:xfrm>
          <a:prstGeom prst="roundRect">
            <a:avLst/>
          </a:prstGeom>
          <a:solidFill>
            <a:srgbClr val="1E4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Shipments</a:t>
            </a:r>
            <a:br/>
            <a:r>
              <a:t>• Shipment ID, Carrier</a:t>
            </a:r>
            <a:br/>
            <a:r>
              <a:t>• Tracking, Status</a:t>
            </a:r>
            <a:br/>
            <a:r>
              <a:t>• Delays, Reroutes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011680"/>
            <a:ext cx="2560320" cy="1645920"/>
          </a:xfrm>
          <a:prstGeom prst="roundRect">
            <a:avLst/>
          </a:prstGeom>
          <a:solidFill>
            <a:srgbClr val="1E4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Fulfillment Centers</a:t>
            </a:r>
            <a:br/>
            <a:r>
              <a:t>• Location, Capacity</a:t>
            </a:r>
            <a:br/>
            <a:r>
              <a:t>• Active Hours</a:t>
            </a:r>
            <a:br/>
            <a:r>
              <a:t>• Carrier Partners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2011680"/>
            <a:ext cx="2560320" cy="1645920"/>
          </a:xfrm>
          <a:prstGeom prst="roundRect">
            <a:avLst/>
          </a:prstGeom>
          <a:solidFill>
            <a:srgbClr val="1E4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Carrier Rates</a:t>
            </a:r>
            <a:br/>
            <a:r>
              <a:t>• Rate Tables</a:t>
            </a:r>
            <a:br/>
            <a:r>
              <a:t>• Service Levels</a:t>
            </a:r>
            <a:br/>
            <a:r>
              <a:t>• Cost per Zone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Calibri"/>
              </a:defRPr>
            </a:pPr>
            <a:r>
              <a:t>Vector Database (Qdrant) - 1536-dimension embeddings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480560"/>
            <a:ext cx="2560320" cy="1463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shipment_events</a:t>
            </a:r>
            <a:br/>
            <a:r>
              <a:t>Vector embeddings of</a:t>
            </a:r>
            <a:br/>
            <a:r>
              <a:t>shipment tracking events</a:t>
            </a:r>
            <a:br/>
            <a:r>
              <a:t>for similarity search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4480560"/>
            <a:ext cx="2560320" cy="1463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product_catalog</a:t>
            </a:r>
            <a:br/>
            <a:r>
              <a:t>Product descriptions &amp;</a:t>
            </a:r>
            <a:br/>
            <a:r>
              <a:t>features as vectors</a:t>
            </a:r>
            <a:br/>
            <a:r>
              <a:t>for semantic search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4480560"/>
            <a:ext cx="2560320" cy="1463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customer_order_history</a:t>
            </a:r>
            <a:br/>
            <a:r>
              <a:t>Customer patterns &amp;</a:t>
            </a:r>
            <a:br/>
            <a:r>
              <a:t>preferences for</a:t>
            </a:r>
            <a:br/>
            <a:r>
              <a:t>personalized routing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4480560"/>
            <a:ext cx="2560320" cy="1463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agent_decisions</a:t>
            </a:r>
            <a:br/>
            <a:r>
              <a:t>Agent reasoning traces</a:t>
            </a:r>
            <a:br/>
            <a:r>
              <a:t>for audit &amp; continuous</a:t>
            </a:r>
            <a:br/>
            <a:r>
              <a:t>improvement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B"/>
                </a:solidFill>
                <a:latin typeface="Calibri"/>
              </a:defRPr>
            </a:pPr>
            <a:r>
              <a:t>⚡ Mock fallback available — Qdrant not required for local development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ORDER FULFILLMENT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54480" y="137160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B82F6"/>
                </a:solidFill>
                <a:latin typeface="Calibri"/>
              </a:defRPr>
            </a:pPr>
            <a:r>
              <a:t>Order Placed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Customer places order</a:t>
            </a:r>
            <a:br/>
            <a:r>
              <a:t>via frontend UI</a:t>
            </a:r>
          </a:p>
        </p:txBody>
      </p:sp>
      <p:sp>
        <p:nvSpPr>
          <p:cNvPr id="7" name="Oval 6"/>
          <p:cNvSpPr/>
          <p:nvPr/>
        </p:nvSpPr>
        <p:spPr>
          <a:xfrm>
            <a:off x="5394960" y="1371600"/>
            <a:ext cx="457200" cy="4572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2C55E"/>
                </a:solidFill>
                <a:latin typeface="Calibri"/>
              </a:defRPr>
            </a:pPr>
            <a:r>
              <a:t>Routing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3774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Selects best fulfillment</a:t>
            </a:r>
            <a:br/>
            <a:r>
              <a:t>center &amp; carrier rate</a:t>
            </a:r>
          </a:p>
        </p:txBody>
      </p:sp>
      <p:sp>
        <p:nvSpPr>
          <p:cNvPr id="10" name="Oval 9"/>
          <p:cNvSpPr/>
          <p:nvPr/>
        </p:nvSpPr>
        <p:spPr>
          <a:xfrm>
            <a:off x="9235440" y="137160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9E0B"/>
                </a:solidFill>
                <a:latin typeface="Calibri"/>
              </a:defRPr>
            </a:pPr>
            <a:r>
              <a:t>Order 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3774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Order assigned to FC</a:t>
            </a:r>
            <a:br/>
            <a:r>
              <a:t>Inventory reserved</a:t>
            </a:r>
          </a:p>
        </p:txBody>
      </p:sp>
      <p:sp>
        <p:nvSpPr>
          <p:cNvPr id="13" name="Oval 12"/>
          <p:cNvSpPr/>
          <p:nvPr/>
        </p:nvSpPr>
        <p:spPr>
          <a:xfrm>
            <a:off x="1554480" y="3108960"/>
            <a:ext cx="457200" cy="4572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4903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F4444"/>
                </a:solidFill>
                <a:latin typeface="Calibri"/>
              </a:defRPr>
            </a:pPr>
            <a:r>
              <a:t>Fulfillment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Items picked &amp; packed</a:t>
            </a:r>
            <a:br/>
            <a:r>
              <a:t>Shipping label generated</a:t>
            </a:r>
          </a:p>
        </p:txBody>
      </p:sp>
      <p:sp>
        <p:nvSpPr>
          <p:cNvPr id="16" name="Oval 15"/>
          <p:cNvSpPr/>
          <p:nvPr/>
        </p:nvSpPr>
        <p:spPr>
          <a:xfrm>
            <a:off x="5394960" y="310896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74903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B82F6"/>
                </a:solidFill>
                <a:latin typeface="Calibri"/>
              </a:defRPr>
            </a:pPr>
            <a:r>
              <a:t>In Transit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41148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Real-time tracking</a:t>
            </a:r>
            <a:br/>
            <a:r>
              <a:t>Monitor agent active</a:t>
            </a:r>
          </a:p>
        </p:txBody>
      </p:sp>
      <p:sp>
        <p:nvSpPr>
          <p:cNvPr id="19" name="Oval 18"/>
          <p:cNvSpPr/>
          <p:nvPr/>
        </p:nvSpPr>
        <p:spPr>
          <a:xfrm>
            <a:off x="9235440" y="3108960"/>
            <a:ext cx="457200" cy="4572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374903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2C55E"/>
                </a:solidFill>
                <a:latin typeface="Calibri"/>
              </a:defRPr>
            </a:pPr>
            <a:r>
              <a:t>Delay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41148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Delay predicted via</a:t>
            </a:r>
            <a:br/>
            <a:r>
              <a:t>vector similarity search</a:t>
            </a:r>
          </a:p>
        </p:txBody>
      </p:sp>
      <p:sp>
        <p:nvSpPr>
          <p:cNvPr id="22" name="Oval 21"/>
          <p:cNvSpPr/>
          <p:nvPr/>
        </p:nvSpPr>
        <p:spPr>
          <a:xfrm>
            <a:off x="1554480" y="484632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486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9E0B"/>
                </a:solidFill>
                <a:latin typeface="Calibri"/>
              </a:defRPr>
            </a:pPr>
            <a:r>
              <a:t>Rerouting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8521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Alternative carrier</a:t>
            </a:r>
            <a:br/>
            <a:r>
              <a:t>selected &amp; executed</a:t>
            </a:r>
          </a:p>
        </p:txBody>
      </p:sp>
      <p:sp>
        <p:nvSpPr>
          <p:cNvPr id="25" name="Oval 24"/>
          <p:cNvSpPr/>
          <p:nvPr/>
        </p:nvSpPr>
        <p:spPr>
          <a:xfrm>
            <a:off x="5394960" y="4846320"/>
            <a:ext cx="457200" cy="4572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5486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F4444"/>
                </a:solidFill>
                <a:latin typeface="Calibri"/>
              </a:defRPr>
            </a:pPr>
            <a:r>
              <a:t>Communication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58521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SMS/Email alerts sent</a:t>
            </a:r>
            <a:br/>
            <a:r>
              <a:t>via Twilio &amp; SendGrid</a:t>
            </a:r>
          </a:p>
        </p:txBody>
      </p:sp>
      <p:sp>
        <p:nvSpPr>
          <p:cNvPr id="28" name="Oval 27"/>
          <p:cNvSpPr/>
          <p:nvPr/>
        </p:nvSpPr>
        <p:spPr>
          <a:xfrm>
            <a:off x="9235440" y="4846320"/>
            <a:ext cx="457200" cy="4572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5486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2C55E"/>
                </a:solidFill>
                <a:latin typeface="Calibri"/>
              </a:defRPr>
            </a:pPr>
            <a:r>
              <a:t>Delivery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58521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Order delivered</a:t>
            </a:r>
            <a:br/>
            <a:r>
              <a:t>Customer notified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017520"/>
            <a:ext cx="20116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Calibri"/>
              </a:defRPr>
            </a:pPr>
            <a:r>
              <a:t>Warehouse OS — Multi-Agent Order Fulfillment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B82F6"/>
                </a:solidFill>
                <a:latin typeface="Calibri"/>
              </a:defRPr>
            </a:pPr>
            <a:r>
              <a:t>GitHub: github.com/muhammadharis-web/wherehouse-os-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Calibr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